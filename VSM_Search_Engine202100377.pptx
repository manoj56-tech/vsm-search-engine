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0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0A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C9A7"/>
                </a:solidFill>
              </a:rPr>
              <a:t>VSM SEARCH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D0E4FF"/>
                </a:solidFill>
              </a:rPr>
              <a:t>Vector Space Model — Information Retrieval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502920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Manoj Kumar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F"/>
                </a:solidFill>
              </a:rPr>
              <a:t>Python  ·  NLP  ·  TF-IDF  ·  Cosine Similarity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37760"/>
            <a:ext cx="1444752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974336"/>
            <a:ext cx="1261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4937760"/>
            <a:ext cx="2432304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4974336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scikit-learn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937760"/>
            <a:ext cx="950976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4974336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NLP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4937760"/>
            <a:ext cx="950976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4974336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VSM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F"/>
                </a:solidFill>
              </a:rPr>
              <a:t>What this project does &amp;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F"/>
                </a:solidFill>
              </a:rPr>
              <a:t>This project implements a fully functional search engine using the Vector Space Model (VSM) — a classical Information Retrieval technique. Given a user query, the engine ranks documents by their semantic relevance using mathematical vector representations of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3383280" cy="182880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3383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4FF"/>
                </a:solidFill>
              </a:rPr>
              <a:t>Documents
in Corpus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926080"/>
            <a:ext cx="3383280" cy="182880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926080"/>
            <a:ext cx="3383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</a:rPr>
              <a:t>TF-IDF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4FF"/>
                </a:solidFill>
              </a:rPr>
              <a:t>Vectorization
Technique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3383280" cy="182880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926080"/>
            <a:ext cx="3383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063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A7"/>
                </a:solidFill>
              </a:rPr>
              <a:t>Cosine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4FF"/>
                </a:solidFill>
              </a:rPr>
              <a:t>Similarity
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166"/>
                </a:solidFill>
              </a:rPr>
              <a:t>Command-line interface  ·  Ranked results  ·  Continuous query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F"/>
                </a:solidFill>
              </a:rPr>
              <a:t>Theoretical foundations behind the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214884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9A7"/>
                </a:solidFill>
              </a:rPr>
              <a:t>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Natural Language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Techniques to process and understand human language — tokenization, stopword removal, and text normalization.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486400" cy="214884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270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9A7"/>
                </a:solidFill>
              </a:rPr>
              <a:t>VSM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39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Vector Space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40487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Represents documents and queries as numeric vectors in a high-dimensional space, enabling mathematical comparison.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5486400" cy="214884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9A7"/>
                </a:solidFill>
              </a:rPr>
              <a:t>TF-IDF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94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Term Frequency – Inverse Document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651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Weights each word by how often it appears in a document vs. how rare it is across the entire corpus.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77639"/>
            <a:ext cx="5486400" cy="214884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77639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8736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9A7"/>
                </a:solidFill>
              </a:rPr>
              <a:t>Cosine 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5994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Cosine Similarity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9651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Measures the angle between two vectors. Score of 1 = identical direction (most relevant), 0 = no overlap.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F"/>
                </a:solidFill>
              </a:rPr>
              <a:t>Step-by-step pipeline from query to ranked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A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Load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40864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5 hardcoded documents covering topics like running, ML &amp; AI are stored in a Python 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813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A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993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TF-IDF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340864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TfidfVectorizer from scikit-learn learns vocabulary and IDF weights from the document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7160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14813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A7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1993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Query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340864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User enters a natural language query via the command line in an infinite loop.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044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A7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16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Vectorize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64024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The same vectorizer transforms the query into the same TF-IDF vector space as the docs.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4480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379476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39044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A7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416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Cosine 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4764024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Dot product similarity is computed between the query vector and every document vector.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480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A7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4736" y="379476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39044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A7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416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Rank &amp;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4764024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Results are sorted by descending score and printed with their similarity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F"/>
                </a:solidFill>
              </a:rPr>
              <a:t>Understanding main.py — 29 lines that power the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943600" cy="530352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347472"/>
          </a:xfrm>
          <a:prstGeom prst="rect">
            <a:avLst/>
          </a:prstGeom>
          <a:solidFill>
            <a:srgbClr val="0A1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760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69CD6"/>
                </a:solidFill>
                <a:latin typeface="Consolas"/>
              </a:rPr>
              <a:t>from sklearn.feature_extraction.text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import TfidfVectorizer</a:t>
            </a:r>
          </a:p>
          <a:p>
            <a:r>
              <a:rPr sz="1050">
                <a:solidFill>
                  <a:srgbClr val="569CD6"/>
                </a:solidFill>
                <a:latin typeface="Consolas"/>
              </a:rPr>
              <a:t>from sklearn.metrics.pairwise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import cosine_similarity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documents = [</a:t>
            </a:r>
          </a:p>
          <a:p>
            <a:r>
              <a:rPr sz="1050">
                <a:solidFill>
                  <a:srgbClr val="CE9178"/>
                </a:solidFill>
                <a:latin typeface="Consolas"/>
              </a:rPr>
              <a:t>    "I love running and marathons",</a:t>
            </a:r>
          </a:p>
          <a:p>
            <a:r>
              <a:rPr sz="1050">
                <a:solidFill>
                  <a:srgbClr val="CE9178"/>
                </a:solidFill>
                <a:latin typeface="Consolas"/>
              </a:rPr>
              <a:t>    "Python is great for ML",</a:t>
            </a:r>
          </a:p>
          <a:p>
            <a:r>
              <a:rPr sz="1050">
                <a:solidFill>
                  <a:srgbClr val="57A64A"/>
                </a:solidFill>
                <a:latin typeface="Consolas"/>
              </a:rPr>
              <a:t>    ... # 5 docs total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]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69CD6"/>
                </a:solidFill>
                <a:latin typeface="Consolas"/>
              </a:rPr>
              <a:t>def search(query):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vectorizer = TfidfVectorizer()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doc_vecs = vectorizer.fit_transform(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           documents)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q_vec = vectorizer.transform([query])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sim = cosine_similarity(q_vec,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                    doc_vecs)[0]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ranked = sorted(enumerate(sim),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key=lambda x: x[1],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reverse=True)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for i, score in ranked: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print(documents[i], score)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417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F"/>
                </a:solidFill>
              </a:rPr>
              <a:t>Import TF-IDF and
cosine similarity
from scikit-learn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581912"/>
            <a:ext cx="109728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F"/>
                </a:solidFill>
              </a:rPr>
              <a:t>Hard-coded corpus
of 5 documents
(can be extended)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770632"/>
            <a:ext cx="109728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519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F"/>
                </a:solidFill>
              </a:rPr>
              <a:t>Core search function:
vectorize → compare
→ rank → display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416552"/>
            <a:ext cx="109728" cy="10972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FEATURES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F"/>
                </a:solidFill>
              </a:rPr>
              <a:t>What the engine offers and the tools powering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C9A7"/>
                </a:solidFill>
              </a:rPr>
              <a:t>● </a:t>
            </a:r>
            <a:r>
              <a:rPr sz="1350">
                <a:solidFill>
                  <a:srgbClr val="D0E4FF"/>
                </a:solidFill>
              </a:rPr>
              <a:t>TF-IDF vectorization of documents</a:t>
            </a:r>
          </a:p>
          <a:p>
            <a:pPr algn="l"/>
            <a:r>
              <a:rPr sz="1150" b="1">
                <a:solidFill>
                  <a:srgbClr val="00C9A7"/>
                </a:solidFill>
              </a:rPr>
              <a:t>● </a:t>
            </a:r>
            <a:r>
              <a:rPr sz="1350">
                <a:solidFill>
                  <a:srgbClr val="D0E4FF"/>
                </a:solidFill>
              </a:rPr>
              <a:t>Cosine similarity-based ranking</a:t>
            </a:r>
          </a:p>
          <a:p>
            <a:pPr algn="l"/>
            <a:r>
              <a:rPr sz="1150" b="1">
                <a:solidFill>
                  <a:srgbClr val="00C9A7"/>
                </a:solidFill>
              </a:rPr>
              <a:t>● </a:t>
            </a:r>
            <a:r>
              <a:rPr sz="1350">
                <a:solidFill>
                  <a:srgbClr val="D0E4FF"/>
                </a:solidFill>
              </a:rPr>
              <a:t>Ranked result display with scores</a:t>
            </a:r>
          </a:p>
          <a:p>
            <a:pPr algn="l"/>
            <a:r>
              <a:rPr sz="1150" b="1">
                <a:solidFill>
                  <a:srgbClr val="00C9A7"/>
                </a:solidFill>
              </a:rPr>
              <a:t>● </a:t>
            </a:r>
            <a:r>
              <a:rPr sz="1350">
                <a:solidFill>
                  <a:srgbClr val="D0E4FF"/>
                </a:solidFill>
              </a:rPr>
              <a:t>Continuous query loop (type 'exit' to stop)</a:t>
            </a:r>
          </a:p>
          <a:p>
            <a:pPr algn="l"/>
            <a:r>
              <a:rPr sz="1150" b="1">
                <a:solidFill>
                  <a:srgbClr val="00C9A7"/>
                </a:solidFill>
              </a:rPr>
              <a:t>● </a:t>
            </a:r>
            <a:r>
              <a:rPr sz="1350">
                <a:solidFill>
                  <a:srgbClr val="D0E4FF"/>
                </a:solidFill>
              </a:rPr>
              <a:t>Fully working in under 30 lines of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54864" cy="411480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Tech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303520" cy="82296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" cy="8229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653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A7"/>
                </a:solidFill>
              </a:rPr>
              <a:t>Python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311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Core programming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34640"/>
            <a:ext cx="5303520" cy="82296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834640"/>
            <a:ext cx="54864" cy="8229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712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A7"/>
                </a:solidFill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36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TfidfVectorizer + cosine_similarity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5303520" cy="82296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840480"/>
            <a:ext cx="54864" cy="8229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77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A7"/>
                </a:solidFill>
              </a:rPr>
              <a:t>pip / requirements.txt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42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Dependency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846320"/>
            <a:ext cx="5303520" cy="82296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846320"/>
            <a:ext cx="54864" cy="8229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8828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9A7"/>
                </a:solidFill>
              </a:rPr>
              <a:t>CLI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2486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F"/>
                </a:solidFill>
              </a:rPr>
              <a:t>Command-line user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SAMPLE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F"/>
                </a:solidFill>
              </a:rPr>
              <a:t>Query: "running stamina" — watch the engine rank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50292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772400" cy="411480"/>
          </a:xfrm>
          <a:prstGeom prst="rect">
            <a:avLst/>
          </a:prstGeom>
          <a:solidFill>
            <a:srgbClr val="0A1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399032"/>
            <a:ext cx="155448" cy="15544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399032"/>
            <a:ext cx="155448" cy="15544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1399032"/>
            <a:ext cx="155448" cy="155448"/>
          </a:xfrm>
          <a:prstGeom prst="ellipse">
            <a:avLst/>
          </a:prstGeom>
          <a:solidFill>
            <a:srgbClr val="28C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33502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4FF"/>
                </a:solidFill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74066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0E4FF"/>
                </a:solidFill>
                <a:latin typeface="Consolas"/>
              </a:rPr>
              <a:t>$ python main.py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00C9A7"/>
                </a:solidFill>
                <a:latin typeface="Consolas"/>
              </a:rPr>
              <a:t>Enter query (type 'exit' to stop): running stamina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FFD166"/>
                </a:solidFill>
                <a:latin typeface="Consolas"/>
              </a:rPr>
              <a:t>Top Results: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28C841"/>
                </a:solidFill>
                <a:latin typeface="Consolas"/>
              </a:rPr>
              <a:t>Running improves health and stamina  --&gt;  0.7162</a:t>
            </a:r>
          </a:p>
          <a:p>
            <a:r>
              <a:rPr sz="1200">
                <a:solidFill>
                  <a:srgbClr val="28C841"/>
                </a:solidFill>
                <a:latin typeface="Consolas"/>
              </a:rPr>
              <a:t>I love running and marathons         --&gt;  0.4035</a:t>
            </a:r>
          </a:p>
          <a:p>
            <a:r>
              <a:rPr sz="1200">
                <a:solidFill>
                  <a:srgbClr val="28C841"/>
                </a:solidFill>
                <a:latin typeface="Consolas"/>
              </a:rPr>
              <a:t>I enjoy long distance running        --&gt;  0.3521</a:t>
            </a:r>
          </a:p>
          <a:p>
            <a:r>
              <a:rPr sz="1200">
                <a:solidFill>
                  <a:srgbClr val="888888"/>
                </a:solidFill>
                <a:latin typeface="Consolas"/>
              </a:rPr>
              <a:t>Python is great for machine learning --&gt;  0.0000</a:t>
            </a:r>
          </a:p>
          <a:p>
            <a:r>
              <a:rPr sz="1200">
                <a:solidFill>
                  <a:srgbClr val="888888"/>
                </a:solidFill>
                <a:latin typeface="Consolas"/>
              </a:rPr>
              <a:t>Artificial intelligence is the future--&gt;  0.0000</a:t>
            </a:r>
          </a:p>
          <a:p>
            <a:r>
              <a:rPr sz="120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D0E4FF"/>
                </a:solidFill>
                <a:latin typeface="Consolas"/>
              </a:rPr>
              <a:t>Enter query (type 'exit' to stop): 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How scores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920240"/>
            <a:ext cx="3291840" cy="132588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1920240"/>
            <a:ext cx="54864" cy="1325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96596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Score = 0.7162
→ High overlap — 'running'
and 'stamina' both 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3429000"/>
            <a:ext cx="3291840" cy="132588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3429000"/>
            <a:ext cx="54864" cy="1325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347472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Score = 0.0000
→ No shared terms
with the 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937760"/>
            <a:ext cx="3291840" cy="132588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4937760"/>
            <a:ext cx="54864" cy="1325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49834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Results always sorted
highest → lowest
for best 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A7"/>
                </a:solidFill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4FF"/>
                </a:solidFill>
              </a:rPr>
              <a:t>Potential enhancements to scale and improve the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📂 Dynamic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Load documents from files, URLs, or a database instead of hardcoded strings.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56616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⚡ Persistent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93392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Fit the vectorizer once and cache vectors — avoid re-fitting on every query.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37160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371600"/>
            <a:ext cx="356616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🔤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993392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Add stopword removal, stemming/lemmatization for better term matching.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56616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🌐 Web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416552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Build a Flask/FastAPI UI so anyone can query through a browser.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379476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8" y="3794760"/>
            <a:ext cx="356616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📊 BM25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16552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Upgrade from TF-IDF to BM25 — the standard in modern search engines.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6" y="3794760"/>
            <a:ext cx="3566160" cy="2103120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3794760"/>
            <a:ext cx="356616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🤖 Semantic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416552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FF"/>
                </a:solidFill>
              </a:rPr>
              <a:t>Use sentence-transformers embeddings for meaning-aware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C9A7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VSM Search Engine — Manoj Kumar Shah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502920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F"/>
                </a:solidFill>
              </a:rPr>
              <a:t>A clean, educational implementation of the Vector Space Model in Python — demonstrating TF-IDF vectorization, cosine similarity ranking, and the foundational principles of Information Retrieval.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9A7"/>
                </a:solidFill>
              </a:rPr>
              <a:t>github.com/Manoj56-tech/vsm-search-engine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86400"/>
            <a:ext cx="1078992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2297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4792" y="5486400"/>
            <a:ext cx="1792224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6232" y="5522976"/>
            <a:ext cx="1700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scikit-learn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94176" y="5486400"/>
            <a:ext cx="1078992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5" y="552297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TF-IDF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10328" y="5486400"/>
            <a:ext cx="2386584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5522976"/>
            <a:ext cx="2295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Cosine Similarity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4071" y="5486400"/>
            <a:ext cx="722376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1" y="5522976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NLP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3607" y="5486400"/>
            <a:ext cx="722376" cy="384048"/>
          </a:xfrm>
          <a:prstGeom prst="rect">
            <a:avLst/>
          </a:prstGeom>
          <a:solidFill>
            <a:srgbClr val="0F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5522976"/>
            <a:ext cx="6309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VSM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